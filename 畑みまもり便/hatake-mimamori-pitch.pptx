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月次ストック粗利</c:v>
                </c:pt>
              </c:strCache>
            </c:strRef>
          </c:tx>
          <c:spPr>
            <a:solidFill>
              <a:srgbClr val="3E9D52"/>
            </a:solidFill>
            <a:effectLst/>
          </c:spPr>
          <c:invertIfNegative val="0"/>
          <c:dLbls>
            <c:numFmt formatCode="#,##0&quot;円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3211C"/>
                    </a:solidFill>
                    <a:latin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10台</c:v>
                  </c:pt>
                  <c:pt idx="1">
                    <c:v>30台</c:v>
                  </c:pt>
                  <c:pt idx="2">
                    <c:v>50台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24000</c:v>
                </c:pt>
                <c:pt idx="1">
                  <c:v>72000</c:v>
                </c:pt>
                <c:pt idx="2">
                  <c:v>120000</c:v>
                </c:pt>
              </c:numCache>
            </c:numRef>
          </c:val>
        </c:ser>
        <c:dLbls>
          <c:numFmt formatCode="#,##0&quot;円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23211C"/>
                  </a:solidFill>
                  <a:latin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3211C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CFBF8"/>
        </a:solidFill>
        <a:ln>
          <a:noFill/>
        </a:ln>
        <a:effectLst/>
      </c:spPr>
    </c:plotArea>
    <c:plotVisOnly val="1"/>
    <c:dispBlanksAs val="span"/>
  </c:chart>
  <c:spPr>
    <a:solidFill>
      <a:srgbClr val="FCFB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4040" y="548640"/>
            <a:ext cx="1737360" cy="1737360"/>
          </a:xfrm>
          <a:prstGeom prst="ellipse">
            <a:avLst/>
          </a:prstGeom>
          <a:solidFill>
            <a:srgbClr val="F6C544">
              <a:alpha val="8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69880" y="1417320"/>
            <a:ext cx="1234440" cy="1234440"/>
          </a:xfrm>
          <a:prstGeom prst="ellipse">
            <a:avLst/>
          </a:prstGeom>
          <a:solidFill>
            <a:srgbClr val="F0883E">
              <a:alpha val="9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281160" y="1783080"/>
            <a:ext cx="960120" cy="960120"/>
          </a:xfrm>
          <a:prstGeom prst="ellipse">
            <a:avLst/>
          </a:prstGeom>
          <a:solidFill>
            <a:srgbClr val="3E9D52">
              <a:alpha val="9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88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投資家向け資料 ・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2F7D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畑みまもり便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E7A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通えない畑、まるごとお預かりします。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68680" y="5532120"/>
            <a:ext cx="1280160" cy="0"/>
          </a:xfrm>
          <a:prstGeom prst="line">
            <a:avLst/>
          </a:prstGeom>
          <a:noFill/>
          <a:ln w="38100">
            <a:solidFill>
              <a:srgbClr val="F088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8A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向野ヘーゼルナッツ農園 ・ 青森県弘前市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「畑に通えない人」が、増え続けている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25.7</a:t>
            </a:r>
            <a:pPr indent="0" marL="0">
              <a:buNone/>
            </a:pPr>
            <a:r>
              <a:rPr lang="en-US" sz="2200" b="1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万ha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全国の荒廃農地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毎年2.5万haずつ増加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069080" y="2606040"/>
            <a:ext cx="0" cy="2057400"/>
          </a:xfrm>
          <a:prstGeom prst="line">
            <a:avLst/>
          </a:prstGeom>
          <a:noFill/>
          <a:ln w="12700">
            <a:solidFill>
              <a:srgbClr val="E6E1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25603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69.2</a:t>
            </a:r>
            <a:pPr indent="0" marL="0">
              <a:buNone/>
            </a:pPr>
            <a:r>
              <a:rPr lang="en-US" sz="2200" b="1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歳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48056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農家の平均年齢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4023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担い手は20年で半減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26680" y="2606040"/>
            <a:ext cx="0" cy="2057400"/>
          </a:xfrm>
          <a:prstGeom prst="line">
            <a:avLst/>
          </a:prstGeom>
          <a:noFill/>
          <a:ln w="12700">
            <a:solidFill>
              <a:srgbClr val="E6E1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25603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088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72</a:t>
            </a:r>
            <a:pPr indent="0" marL="0">
              <a:buNone/>
            </a:pPr>
            <a:r>
              <a:rPr lang="en-US" sz="2200" b="1" dirty="0">
                <a:solidFill>
                  <a:srgbClr val="F088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%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813816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65歳以上が占める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38160" y="4023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小さな畑は誰も見ていない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出典：農林水産省（2024）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畑みまもり便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029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市場の空白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でも、その小さな畑を</a:t>
            </a:r>
            <a:endParaRPr lang="en-US" sz="4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見ている人は、まだいない。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68680" y="4526280"/>
            <a:ext cx="1005840" cy="0"/>
          </a:xfrm>
          <a:prstGeom prst="line">
            <a:avLst/>
          </a:prstGeom>
          <a:noFill/>
          <a:ln w="38100">
            <a:solidFill>
              <a:srgbClr val="F088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4709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大手警備・IoT企業は、採算が合わず小さな畑を相手にしない。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かといって現地に人を常駐させるのはコストに合わない。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畑みまもり便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29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なぜ今か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需要の拡大と、見守りコストの崩壊が同時に起きた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2487168"/>
            <a:ext cx="146304" cy="146304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331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需要は構造的に拡大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高齢化・相続で「持て余す農地」が毎年増える。止まらないメガトレンド。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069080" y="2468880"/>
            <a:ext cx="0" cy="2194560"/>
          </a:xfrm>
          <a:prstGeom prst="line">
            <a:avLst/>
          </a:prstGeom>
          <a:noFill/>
          <a:ln w="12700">
            <a:solidFill>
              <a:srgbClr val="E6E1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0" y="2487168"/>
            <a:ext cx="146304" cy="146304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331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監視が一気に安く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80560" y="310896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ソーラー＋SIMカメラが1〜2万円台に。電源も回線もない畑を月数百円で見守れる。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26680" y="2468880"/>
            <a:ext cx="0" cy="2194560"/>
          </a:xfrm>
          <a:prstGeom prst="line">
            <a:avLst/>
          </a:prstGeom>
          <a:noFill/>
          <a:ln w="12700">
            <a:solidFill>
              <a:srgbClr val="E6E1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2487168"/>
            <a:ext cx="146304" cy="146304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2331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公費の追い風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38160" y="310896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スマート農業・鳥獣対策の補助金が、顧客の初期負担を下げる材料に。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畑みまもり便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029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解決策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売り物は「労働」ではなく、</a:t>
            </a:r>
            <a:endParaRPr lang="en-US" sz="3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「安心」という情報。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4114800"/>
            <a:ext cx="10515600" cy="0"/>
          </a:xfrm>
          <a:prstGeom prst="line">
            <a:avLst/>
          </a:prstGeom>
          <a:noFill/>
          <a:ln w="12700">
            <a:solidFill>
              <a:srgbClr val="E6E1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4526280"/>
            <a:ext cx="128016" cy="128016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43708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いつでも見える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8920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畑をオンデマンド閲覧。離れた家族も見られる。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4526280"/>
            <a:ext cx="128016" cy="128016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9" name="Text 7"/>
          <p:cNvSpPr/>
          <p:nvPr/>
        </p:nvSpPr>
        <p:spPr>
          <a:xfrm>
            <a:off x="4736592" y="43708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異変を知らせる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48920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鳥獣・不審者・不法投棄を検知して通知。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4526280"/>
            <a:ext cx="128016" cy="128016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12" name="Text 10"/>
          <p:cNvSpPr/>
          <p:nvPr/>
        </p:nvSpPr>
        <p:spPr>
          <a:xfrm>
            <a:off x="8394192" y="43708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毎月レポート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38160" y="48920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AIが画像を読み「今月の畑」を自動報告。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畑みまもり便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029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電源も回線もない畑で、低コストに回る設計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設置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鳶の技で3mにソーラーSIMカメラ。盗難に強く死角なし。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154680" y="27432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88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566160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検知＋のぞき見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566160" y="32461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動いた時だけ録画・通知。見たい時だけライブ。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897880" y="27432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88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309360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AIレポート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09360" y="32461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月次で画像をAI要約。異常・鳥獣痕跡を自動報告。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41080" y="27432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88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052560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草刈り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052560" y="32461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必要時に施工。カメラが前後を検収＝品質の証拠。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畑みまもり便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029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採算の肝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通信費は、設計ひとつでこう変わる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9728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常時クラウド配信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30175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¥6,000 / 月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120640" y="2971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88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0" y="2651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検知＋のぞき見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0" y="30175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¥300〜1,100 / 月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50292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ソーラーカメラは構造上この方式が標準。「いつでも覗ける安心」はオンデマンドで両立し、常時配信は不要。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畑みまもり便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029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収益構造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入口は単発、本命は積み上がる月額ストック</a:t>
            </a:r>
            <a:endParaRPr lang="en-US" sz="2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6070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937760"/>
                <a:gridCol w="27432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メニュー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D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D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料金（仮）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D5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1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カメラ設置（初期）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1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ソーラーSIMカメラを設置・初期設定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0883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3〜5万円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321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みまもり月額  ★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1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閲覧＋通信＋月次AIレポート＋異常連絡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0883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 3,000〜5,000円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1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草刈りスポット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1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年2〜4回の草刈り・刈草処理（入口）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0883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半日 15,000円〜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321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まるごと年契約  ★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321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見守り＋定期草刈り＋レポート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0883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 8〜15万円／反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52120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＝ ストック収入。相続農地は手放しにくく解約が少ない（低churn・高LTV）。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畑みまもり便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029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採算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カメラ1台で、粗利率 50〜70%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粗利 ／ 台・月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088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¥1,500</a:t>
            </a:r>
            <a:pPr indent="0" marL="0">
              <a:buNone/>
            </a:pPr>
            <a:r>
              <a:rPr lang="en-US" sz="3000" b="1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〜3,500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7680960" y="2743200"/>
            <a:ext cx="0" cy="2011680"/>
          </a:xfrm>
          <a:prstGeom prst="line">
            <a:avLst/>
          </a:prstGeom>
          <a:noFill/>
          <a:ln w="12700">
            <a:solidFill>
              <a:srgbClr val="E6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292608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　＋3,000〜5,000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通信　−300〜1,100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償却　−約560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保守ほか　−500〜1,500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2120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初期設置3〜5万円で機材原価を即回収 → 月額はほぼ丸ごと利益。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畑みまもり便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029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成長見通し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台数が増えるほど、ストック粗利が積み上がる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2011680"/>
          <a:ext cx="106070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55321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30台で月7万円のストック粗利（草刈り収入とは別に積み上がる）。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畑みまもり便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029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市場規模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全国の放置農地から、まず津軽圏で面を取る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2057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651760" y="2103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全国の放置農地・遠隔/高齢所有者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51760" y="25146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荒廃農地25.7万ha。再生可能だけで9.4万ha＝広大な未管理ストック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10607040" cy="0"/>
          </a:xfrm>
          <a:prstGeom prst="line">
            <a:avLst/>
          </a:prstGeom>
          <a:noFill/>
          <a:ln w="12700">
            <a:solidFill>
              <a:srgbClr val="E6E1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00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E8A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651760" y="3246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北東北の遠隔・高齢所有者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51760" y="36576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過疎・相続が濃い地域。空き家管理（月5千〜1万円）の隣接市場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206240"/>
            <a:ext cx="10607040" cy="0"/>
          </a:xfrm>
          <a:prstGeom prst="line">
            <a:avLst/>
          </a:prstGeom>
          <a:noFill/>
          <a:ln w="12700">
            <a:solidFill>
              <a:srgbClr val="E6E1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343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88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SOM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51760" y="4389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津軽圏・弘前で初期獲得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51760" y="48006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顔が見える地域から数十件→数百件。1人＋協力者で到達可能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806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「空き家管理サービスの農地版」── 実証済みの月額モデルを、競合の手薄な放置農地に移植する。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畑みまもり便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029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競合優位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個人にしか築けない、4つの堀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3886200"/>
            <a:ext cx="10607040" cy="0"/>
          </a:xfrm>
          <a:prstGeom prst="line">
            <a:avLst/>
          </a:prstGeom>
          <a:noFill/>
          <a:ln w="12700">
            <a:solidFill>
              <a:srgbClr val="E6E1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80760" y="2148840"/>
            <a:ext cx="0" cy="3291840"/>
          </a:xfrm>
          <a:prstGeom prst="line">
            <a:avLst/>
          </a:prstGeom>
          <a:noFill/>
          <a:ln w="12700">
            <a:solidFill>
              <a:srgbClr val="E6E1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313432"/>
            <a:ext cx="128016" cy="128016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240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鳶の3m設置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高所作業の技で盗難・破壊に強く、自前施工で設置原価を圧縮。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313432"/>
            <a:ext cx="128016" cy="128016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10" name="Text 8"/>
          <p:cNvSpPr/>
          <p:nvPr/>
        </p:nvSpPr>
        <p:spPr>
          <a:xfrm>
            <a:off x="6519672" y="2240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× 発信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263640" y="2743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カメラ画像から月次レポートを自動生成。便利屋には無理。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096512"/>
            <a:ext cx="128016" cy="128016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13" name="Text 11"/>
          <p:cNvSpPr/>
          <p:nvPr/>
        </p:nvSpPr>
        <p:spPr>
          <a:xfrm>
            <a:off x="1078992" y="4023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地域・顔が見える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2960" y="45262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他人に畑を任せる心理ハードルを、地元の信頼で越える。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4096512"/>
            <a:ext cx="128016" cy="128016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16" name="Text 14"/>
          <p:cNvSpPr/>
          <p:nvPr/>
        </p:nvSpPr>
        <p:spPr>
          <a:xfrm>
            <a:off x="6519672" y="4023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小回り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263640" y="45262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0.5反〜の小さな畑も断らない。大手が拾わない隙間を取る。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畑みまもり便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029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成長戦略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1人で回す → カメラ検収つき雇用型ネットワークへ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88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自分で施工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コアを学び、実証データと品質基準を作る。単価は外注費が乗っても黒字の水準で設定。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0" y="2331720"/>
            <a:ext cx="0" cy="2468880"/>
          </a:xfrm>
          <a:prstGeom prst="line">
            <a:avLst/>
          </a:prstGeom>
          <a:noFill/>
          <a:ln w="12700">
            <a:solidFill>
              <a:srgbClr val="E6E1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2331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88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2697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都度雇用でオーバーフロー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480560" y="324612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手が回らない分だけ地元ワーカーを“雇用”（労災・賠償が明確）。カメラが施工を検収。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0" y="2331720"/>
            <a:ext cx="0" cy="2468880"/>
          </a:xfrm>
          <a:prstGeom prst="line">
            <a:avLst/>
          </a:prstGeom>
          <a:noFill/>
          <a:ln w="12700">
            <a:solidFill>
              <a:srgbClr val="E6E1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2331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88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0" y="2697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協力者プール＋評価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138160" y="324612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2〜3人をカメラ評価で振り分け。客提示価格で需要を吸収。地域の元請けに。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2578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開放型「草刈りUber」は密度・安全・季節の壁でNG。雇用型＋カメラ検収＋客提示価格の“管理型”だから成立する。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畑みまもり便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029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計画とリスク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小さく実証し、ダメなら畳む。リスクは限定済み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68680" y="2267712"/>
            <a:ext cx="164592" cy="164592"/>
          </a:xfrm>
          <a:prstGeom prst="ellipse">
            <a:avLst/>
          </a:prstGeom>
          <a:solidFill>
            <a:srgbClr val="3E9D52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〜3ヶ月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0" y="2194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自分の畑にカメラ1台を実証設置。閲覧画面・AIレポートをサンプル化。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3136392"/>
            <a:ext cx="164592" cy="164592"/>
          </a:xfrm>
          <a:prstGeom prst="ellipse">
            <a:avLst/>
          </a:prstGeom>
          <a:solidFill>
            <a:srgbClr val="3E9D52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3063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3〜6ヶ月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0" y="3063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コンセプトと畑の様子を発信し、問い合わせで需要をテスト。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4005072"/>
            <a:ext cx="164592" cy="164592"/>
          </a:xfrm>
          <a:prstGeom prst="ellipse">
            <a:avLst/>
          </a:prstGeom>
          <a:solidFill>
            <a:srgbClr val="3E9D52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931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6〜12ヶ月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1〜数件を実績化。保険・安全教育を整備し、都度雇用を開始。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68680" y="5074920"/>
            <a:ext cx="0" cy="822960"/>
          </a:xfrm>
          <a:prstGeom prst="line">
            <a:avLst/>
          </a:prstGeom>
          <a:noFill/>
          <a:ln w="38100">
            <a:solidFill>
              <a:srgbClr val="F088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50749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088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撤退ライン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半年発信して問い合わせ0件なら撤退し、草刈り単体に戻す。失う実費はカメラ実証費（数万円）のみ。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畑みまもり便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029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F4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7D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 ＆ お願いしたいこと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68680" y="1508760"/>
            <a:ext cx="1280160" cy="0"/>
          </a:xfrm>
          <a:prstGeom prst="line">
            <a:avLst/>
          </a:prstGeom>
          <a:noFill/>
          <a:ln w="38100">
            <a:solidFill>
              <a:srgbClr val="F088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2194560"/>
            <a:ext cx="0" cy="3474720"/>
          </a:xfrm>
          <a:prstGeom prst="line">
            <a:avLst/>
          </a:prstGeom>
          <a:noFill/>
          <a:ln w="19050">
            <a:solidFill>
              <a:srgbClr val="CFE3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88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　三浦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元・鳶職人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高所作業の技 ＝ 3mカメラ設置の競合優位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新規就農者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自分の畑がそのまま実証ショールーム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709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AI活用の実務者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5074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会計・レポート自動化を自力で構築・運用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88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求めるもの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2788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実証フェーズの少額資金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3154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カメラ・SIM・保険など立ち上げ実費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0" y="3749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初期顧客の紹介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4114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遠隔地に農地を持つ層へのつなぎ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0" y="4709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9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保険・労務の助言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5074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1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雇用型ネットワーク設計の知見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A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畑みまもり便 ・ 向野ヘーゼルナッツ農園（青森県弘前市）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畑みまもり便 投資家向け資料</dc:title>
  <dc:subject>PptxGenJS Presentation</dc:subject>
  <dc:creator>向野ヘーゼルナッツ農園</dc:creator>
  <cp:lastModifiedBy>向野ヘーゼルナッツ農園</cp:lastModifiedBy>
  <cp:revision>1</cp:revision>
  <dcterms:created xsi:type="dcterms:W3CDTF">2026-06-17T06:54:26Z</dcterms:created>
  <dcterms:modified xsi:type="dcterms:W3CDTF">2026-06-17T06:54:26Z</dcterms:modified>
</cp:coreProperties>
</file>